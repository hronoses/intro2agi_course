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Play"/>
      <p:regular r:id="rId31"/>
      <p:bold r:id="rId32"/>
    </p:embeddedFont>
    <p:embeddedFont>
      <p:font typeface="Lexend"/>
      <p:regular r:id="rId33"/>
      <p:bold r:id="rId34"/>
    </p:embeddedFont>
    <p:embeddedFont>
      <p:font typeface="Merriweather"/>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lay-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Lexend-regular.fntdata"/><Relationship Id="rId10" Type="http://schemas.openxmlformats.org/officeDocument/2006/relationships/slide" Target="slides/slide5.xml"/><Relationship Id="rId32" Type="http://schemas.openxmlformats.org/officeDocument/2006/relationships/font" Target="fonts/Play-bold.fntdata"/><Relationship Id="rId13" Type="http://schemas.openxmlformats.org/officeDocument/2006/relationships/slide" Target="slides/slide8.xml"/><Relationship Id="rId35" Type="http://schemas.openxmlformats.org/officeDocument/2006/relationships/font" Target="fonts/Merriweather-regular.fntdata"/><Relationship Id="rId12" Type="http://schemas.openxmlformats.org/officeDocument/2006/relationships/slide" Target="slides/slide7.xml"/><Relationship Id="rId34" Type="http://schemas.openxmlformats.org/officeDocument/2006/relationships/font" Target="fonts/Lexend-bold.fntdata"/><Relationship Id="rId15" Type="http://schemas.openxmlformats.org/officeDocument/2006/relationships/slide" Target="slides/slide10.xml"/><Relationship Id="rId37" Type="http://schemas.openxmlformats.org/officeDocument/2006/relationships/font" Target="fonts/Merriweather-italic.fntdata"/><Relationship Id="rId14" Type="http://schemas.openxmlformats.org/officeDocument/2006/relationships/slide" Target="slides/slide9.xml"/><Relationship Id="rId36" Type="http://schemas.openxmlformats.org/officeDocument/2006/relationships/font" Target="fonts/Merriweather-bold.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Merriweather-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92226c22d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92226c22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48bce1daa512a87f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48bce1daa512a87f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92226c22d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92226c22d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933e255774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933e255774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48bce1daa512a87f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48bce1daa512a87f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92226c22d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92226c22d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92226c22d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92226c22d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933e255774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933e255774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92226c22d8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92226c22d8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933e25577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933e25577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933e25577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933e25577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92226c22d8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92226c22d8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c2fffc0e7f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c2fffc0e7f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933e25577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933e25577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c2fffc0e7f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c2fffc0e7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c2fffc0e7f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c2fffc0e7f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933e255774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933e25577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9227d0c923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9227d0c923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9227d0c923_0_14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g39227d0c923_0_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9227d0c92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9227d0c92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92226c22d8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92226c22d8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933e255774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933e255774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c2fffc0e7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c2fffc0e7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933e255774_0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3933e255774_0_1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g3933e255774_0_1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Назва та вміст"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531976" y="211508"/>
            <a:ext cx="7983600" cy="3588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2100"/>
              <a:buFont typeface="Arial"/>
              <a:buNone/>
              <a:defRPr sz="2100">
                <a:latin typeface="Arial"/>
                <a:ea typeface="Arial"/>
                <a:cs typeface="Arial"/>
                <a:sym typeface="Aria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628650" y="692210"/>
            <a:ext cx="7886700" cy="3940500"/>
          </a:xfrm>
          <a:prstGeom prst="rect">
            <a:avLst/>
          </a:prstGeom>
          <a:noFill/>
          <a:ln>
            <a:noFill/>
          </a:ln>
        </p:spPr>
        <p:txBody>
          <a:bodyPr anchorCtr="0" anchor="t" bIns="34275" lIns="68575" spcFirstLastPara="1" rIns="68575" wrap="square" tIns="34275">
            <a:normAutofit/>
          </a:bodyPr>
          <a:lstStyle>
            <a:lvl1pPr indent="-323850" lvl="0" marL="457200" algn="l">
              <a:lnSpc>
                <a:spcPct val="90000"/>
              </a:lnSpc>
              <a:spcBef>
                <a:spcPts val="800"/>
              </a:spcBef>
              <a:spcAft>
                <a:spcPts val="0"/>
              </a:spcAft>
              <a:buClr>
                <a:schemeClr val="dk1"/>
              </a:buClr>
              <a:buSzPts val="1500"/>
              <a:buChar char="●"/>
              <a:defRPr sz="1500">
                <a:latin typeface="Play"/>
                <a:ea typeface="Play"/>
                <a:cs typeface="Play"/>
                <a:sym typeface="Play"/>
              </a:defRPr>
            </a:lvl1pPr>
            <a:lvl2pPr indent="-317500" lvl="1" marL="914400" algn="l">
              <a:lnSpc>
                <a:spcPct val="90000"/>
              </a:lnSpc>
              <a:spcBef>
                <a:spcPts val="1200"/>
              </a:spcBef>
              <a:spcAft>
                <a:spcPts val="0"/>
              </a:spcAft>
              <a:buClr>
                <a:schemeClr val="dk1"/>
              </a:buClr>
              <a:buSzPts val="1400"/>
              <a:buChar char="○"/>
              <a:defRPr sz="1400">
                <a:latin typeface="Play"/>
                <a:ea typeface="Play"/>
                <a:cs typeface="Play"/>
                <a:sym typeface="Play"/>
              </a:defRPr>
            </a:lvl2pPr>
            <a:lvl3pPr indent="-304800" lvl="2" marL="1371600" algn="l">
              <a:lnSpc>
                <a:spcPct val="90000"/>
              </a:lnSpc>
              <a:spcBef>
                <a:spcPts val="1200"/>
              </a:spcBef>
              <a:spcAft>
                <a:spcPts val="0"/>
              </a:spcAft>
              <a:buClr>
                <a:schemeClr val="dk1"/>
              </a:buClr>
              <a:buSzPts val="1200"/>
              <a:buChar char="■"/>
              <a:defRPr sz="1200">
                <a:latin typeface="Play"/>
                <a:ea typeface="Play"/>
                <a:cs typeface="Play"/>
                <a:sym typeface="Play"/>
              </a:defRPr>
            </a:lvl3pPr>
            <a:lvl4pPr indent="-298450" lvl="3" marL="1828800" algn="l">
              <a:lnSpc>
                <a:spcPct val="90000"/>
              </a:lnSpc>
              <a:spcBef>
                <a:spcPts val="1200"/>
              </a:spcBef>
              <a:spcAft>
                <a:spcPts val="0"/>
              </a:spcAft>
              <a:buClr>
                <a:schemeClr val="dk1"/>
              </a:buClr>
              <a:buSzPts val="1100"/>
              <a:buChar char="●"/>
              <a:defRPr sz="1100">
                <a:latin typeface="Play"/>
                <a:ea typeface="Play"/>
                <a:cs typeface="Play"/>
                <a:sym typeface="Play"/>
              </a:defRPr>
            </a:lvl4pPr>
            <a:lvl5pPr indent="-298450" lvl="4" marL="2286000" algn="l">
              <a:lnSpc>
                <a:spcPct val="90000"/>
              </a:lnSpc>
              <a:spcBef>
                <a:spcPts val="1200"/>
              </a:spcBef>
              <a:spcAft>
                <a:spcPts val="0"/>
              </a:spcAft>
              <a:buClr>
                <a:schemeClr val="dk1"/>
              </a:buClr>
              <a:buSzPts val="1100"/>
              <a:buChar char="○"/>
              <a:defRPr sz="1100">
                <a:latin typeface="Play"/>
                <a:ea typeface="Play"/>
                <a:cs typeface="Play"/>
                <a:sym typeface="Play"/>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youtu.be/03p2CADwGF8?si=lF-RRunvVgvTuo8e&amp;t=2736"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youtu.be/aR20FWCCjAs?si=rJozbL7OEFweOFBC" TargetMode="External"/><Relationship Id="rId4" Type="http://schemas.openxmlformats.org/officeDocument/2006/relationships/hyperlink" Target="https://youtu.be/aR20FWCCjAs?si=rJozbL7OEFweOFBC" TargetMode="External"/><Relationship Id="rId5" Type="http://schemas.openxmlformats.org/officeDocument/2006/relationships/hyperlink" Target="https://www.reddit.com/r/datascience/comments/1oylljh/metas_top_ai_researchers_thinks_llms_are_a_dead/" TargetMode="External"/><Relationship Id="rId6" Type="http://schemas.openxmlformats.org/officeDocument/2006/relationships/hyperlink" Target="https://www.reddit.com/r/datascience/comments/1oylljh/metas_top_ai_researchers_thinks_llms_are_a_dead/" TargetMode="External"/><Relationship Id="rId7"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www.youtube.com/watch?v=75k8sqh5tfQ"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hyperlink" Target="https://doi.org/10.1093/mind/LIX.236.433" TargetMode="External"/><Relationship Id="rId5" Type="http://schemas.openxmlformats.org/officeDocument/2006/relationships/hyperlink" Target="https://doi.org/10.1093/mind/LIX.236.433"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5.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docs.google.com/document/d/1efhc1NQejsvFBDHXJdzXP6zvpV1eu40_gijNr3ckVSo/edit?usp=sharing" TargetMode="External"/><Relationship Id="rId4" Type="http://schemas.openxmlformats.org/officeDocument/2006/relationships/hyperlink" Target="https://github.com/freeplane/freeplane/release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osaulenko-vm.medium.com/%D1%89%D0%BE-%D1%82%D0%B0%D0%BA%D0%B5-%D1%96%D0%BD%D1%82%D0%B5%D0%BB%D0%B5%D0%BA%D1%82-a3ec1307d0c3" TargetMode="External"/><Relationship Id="rId4" Type="http://schemas.openxmlformats.org/officeDocument/2006/relationships/hyperlink" Target="https://osaulenko-vm.medium.com/ai-map-2020-9305a33b24b0" TargetMode="External"/><Relationship Id="rId5" Type="http://schemas.openxmlformats.org/officeDocument/2006/relationships/hyperlink" Target="https://ma-lab-berkeley.github.io/deep-representation-learning-book/"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Вступ до загального </a:t>
            </a:r>
            <a:endParaRPr/>
          </a:p>
          <a:p>
            <a:pPr indent="0" lvl="0" marL="0" rtl="0" algn="ctr">
              <a:spcBef>
                <a:spcPts val="0"/>
              </a:spcBef>
              <a:spcAft>
                <a:spcPts val="0"/>
              </a:spcAft>
              <a:buNone/>
            </a:pPr>
            <a:r>
              <a:rPr lang="en"/>
              <a:t>штучного інтелекту</a:t>
            </a:r>
            <a:endParaRPr/>
          </a:p>
        </p:txBody>
      </p:sp>
      <p:sp>
        <p:nvSpPr>
          <p:cNvPr id="61" name="Google Shape;61;p14"/>
          <p:cNvSpPr txBox="1"/>
          <p:nvPr>
            <p:ph idx="1" type="subTitle"/>
          </p:nvPr>
        </p:nvSpPr>
        <p:spPr>
          <a:xfrm>
            <a:off x="339075"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2026</a:t>
            </a:r>
            <a:endParaRPr/>
          </a:p>
        </p:txBody>
      </p:sp>
      <p:sp>
        <p:nvSpPr>
          <p:cNvPr id="62" name="Google Shape;62;p14"/>
          <p:cNvSpPr txBox="1"/>
          <p:nvPr/>
        </p:nvSpPr>
        <p:spPr>
          <a:xfrm>
            <a:off x="3178275" y="4101950"/>
            <a:ext cx="3010500" cy="729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Clr>
                <a:schemeClr val="dk1"/>
              </a:buClr>
              <a:buSzPts val="1100"/>
              <a:buFont typeface="Arial"/>
              <a:buNone/>
            </a:pPr>
            <a:r>
              <a:rPr i="1" lang="en" sz="1100">
                <a:solidFill>
                  <a:schemeClr val="dk1"/>
                </a:solidFill>
              </a:rPr>
              <a:t>Осауленко Вячеслав Миколайович</a:t>
            </a:r>
            <a:endParaRPr i="1" sz="1100">
              <a:solidFill>
                <a:schemeClr val="dk1"/>
              </a:solidFill>
            </a:endParaRPr>
          </a:p>
          <a:p>
            <a:pPr indent="0" lvl="0" marL="0" rtl="0" algn="ctr">
              <a:lnSpc>
                <a:spcPct val="115000"/>
              </a:lnSpc>
              <a:spcBef>
                <a:spcPts val="1200"/>
              </a:spcBef>
              <a:spcAft>
                <a:spcPts val="1200"/>
              </a:spcAft>
              <a:buClr>
                <a:schemeClr val="dk1"/>
              </a:buClr>
              <a:buSzPts val="1100"/>
              <a:buFont typeface="Arial"/>
              <a:buNone/>
            </a:pPr>
            <a:r>
              <a:rPr i="1" lang="en" sz="1100">
                <a:solidFill>
                  <a:schemeClr val="dk1"/>
                </a:solidFill>
              </a:rPr>
              <a:t>КПІ ім.Ігоря Сікорського</a:t>
            </a:r>
            <a:endParaRPr i="1" sz="11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Лекція 1. Поняття інтелекту</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Коротка історія намагання створити загальний ШІ</a:t>
            </a:r>
            <a:endParaRPr/>
          </a:p>
          <a:p>
            <a:pPr indent="-342900" lvl="0" marL="457200" rtl="0" algn="l">
              <a:spcBef>
                <a:spcPts val="0"/>
              </a:spcBef>
              <a:spcAft>
                <a:spcPts val="0"/>
              </a:spcAft>
              <a:buSzPts val="1800"/>
              <a:buAutoNum type="arabicPeriod"/>
            </a:pPr>
            <a:r>
              <a:rPr lang="en"/>
              <a:t>Bitter lessons</a:t>
            </a:r>
            <a:endParaRPr/>
          </a:p>
          <a:p>
            <a:pPr indent="-342900" lvl="0" marL="457200" rtl="0" algn="l">
              <a:spcBef>
                <a:spcPts val="0"/>
              </a:spcBef>
              <a:spcAft>
                <a:spcPts val="0"/>
              </a:spcAft>
              <a:buSzPts val="1800"/>
              <a:buAutoNum type="arabicPeriod"/>
            </a:pPr>
            <a:r>
              <a:rPr lang="en"/>
              <a:t>Основні напрямки</a:t>
            </a:r>
            <a:endParaRPr/>
          </a:p>
          <a:p>
            <a:pPr indent="0" lvl="0" marL="0" rtl="0" algn="l">
              <a:spcBef>
                <a:spcPts val="1200"/>
              </a:spcBef>
              <a:spcAft>
                <a:spcPts val="0"/>
              </a:spcAft>
              <a:buNone/>
            </a:pPr>
            <a:r>
              <a:rPr lang="en"/>
              <a:t>Перерва 5 хв</a:t>
            </a:r>
            <a:endParaRPr/>
          </a:p>
          <a:p>
            <a:pPr indent="-342900" lvl="0" marL="457200" rtl="0" algn="l">
              <a:spcBef>
                <a:spcPts val="1200"/>
              </a:spcBef>
              <a:spcAft>
                <a:spcPts val="0"/>
              </a:spcAft>
              <a:buSzPts val="1800"/>
              <a:buAutoNum type="arabicPeriod"/>
            </a:pPr>
            <a:r>
              <a:rPr lang="en"/>
              <a:t>Що таке інтелект</a:t>
            </a:r>
            <a:endParaRPr/>
          </a:p>
          <a:p>
            <a:pPr indent="-342900" lvl="0" marL="457200" rtl="0" algn="l">
              <a:spcBef>
                <a:spcPts val="0"/>
              </a:spcBef>
              <a:spcAft>
                <a:spcPts val="0"/>
              </a:spcAft>
              <a:buSzPts val="1800"/>
              <a:buAutoNum type="arabicPeriod"/>
            </a:pPr>
            <a:r>
              <a:rPr lang="en"/>
              <a:t>Як проходитиме курс</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Мотивація</a:t>
            </a:r>
            <a:endParaRPr/>
          </a:p>
        </p:txBody>
      </p:sp>
      <p:sp>
        <p:nvSpPr>
          <p:cNvPr id="74" name="Google Shape;74;p16"/>
          <p:cNvSpPr txBox="1"/>
          <p:nvPr>
            <p:ph idx="1" type="body"/>
          </p:nvPr>
        </p:nvSpPr>
        <p:spPr>
          <a:xfrm>
            <a:off x="311700" y="1152475"/>
            <a:ext cx="5455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Де ті розумні роботи, що нам показували у фільмах!?</a:t>
            </a:r>
            <a:endParaRPr/>
          </a:p>
          <a:p>
            <a:pPr indent="0" lvl="0" marL="0" rtl="0" algn="l">
              <a:spcBef>
                <a:spcPts val="1200"/>
              </a:spcBef>
              <a:spcAft>
                <a:spcPts val="0"/>
              </a:spcAft>
              <a:buNone/>
            </a:pPr>
            <a:r>
              <a:rPr lang="en"/>
              <a:t>Війна </a:t>
            </a:r>
            <a:endParaRPr/>
          </a:p>
          <a:p>
            <a:pPr indent="0" lvl="0" marL="0" rtl="0" algn="l">
              <a:spcBef>
                <a:spcPts val="1200"/>
              </a:spcBef>
              <a:spcAft>
                <a:spcPts val="0"/>
              </a:spcAft>
              <a:buNone/>
            </a:pPr>
            <a:r>
              <a:rPr lang="en"/>
              <a:t>Природа свідомості</a:t>
            </a:r>
            <a:endParaRPr/>
          </a:p>
          <a:p>
            <a:pPr indent="0" lvl="0" marL="0" rtl="0" algn="l">
              <a:spcBef>
                <a:spcPts val="1200"/>
              </a:spcBef>
              <a:spcAft>
                <a:spcPts val="1200"/>
              </a:spcAft>
              <a:buNone/>
            </a:pPr>
            <a:r>
              <a:rPr lang="en"/>
              <a:t>Природа всесвіту</a:t>
            </a:r>
            <a:endParaRPr/>
          </a:p>
        </p:txBody>
      </p:sp>
      <p:sp>
        <p:nvSpPr>
          <p:cNvPr id="75" name="Google Shape;75;p16"/>
          <p:cNvSpPr txBox="1"/>
          <p:nvPr/>
        </p:nvSpPr>
        <p:spPr>
          <a:xfrm>
            <a:off x="0" y="4527900"/>
            <a:ext cx="3309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Єва 2011</a:t>
            </a:r>
            <a:endParaRPr/>
          </a:p>
          <a:p>
            <a:pPr indent="0" lvl="0" marL="0" rtl="0" algn="l">
              <a:spcBef>
                <a:spcPts val="0"/>
              </a:spcBef>
              <a:spcAft>
                <a:spcPts val="0"/>
              </a:spcAft>
              <a:buNone/>
            </a:pPr>
            <a:r>
              <a:rPr lang="en"/>
              <a:t>https://www.imdb.com/title/tt1298554/</a:t>
            </a:r>
            <a:endParaRPr/>
          </a:p>
        </p:txBody>
      </p:sp>
      <p:pic>
        <p:nvPicPr>
          <p:cNvPr id="76" name="Google Shape;76;p16"/>
          <p:cNvPicPr preferRelativeResize="0"/>
          <p:nvPr/>
        </p:nvPicPr>
        <p:blipFill>
          <a:blip r:embed="rId3">
            <a:alphaModFix/>
          </a:blip>
          <a:stretch>
            <a:fillRect/>
          </a:stretch>
        </p:blipFill>
        <p:spPr>
          <a:xfrm>
            <a:off x="5767640" y="0"/>
            <a:ext cx="3376371" cy="51435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Коротка історія створення ШІ</a:t>
            </a:r>
            <a:endParaRPr/>
          </a:p>
        </p:txBody>
      </p:sp>
      <p:sp>
        <p:nvSpPr>
          <p:cNvPr id="82" name="Google Shape;82;p17"/>
          <p:cNvSpPr txBox="1"/>
          <p:nvPr>
            <p:ph idx="1" type="body"/>
          </p:nvPr>
        </p:nvSpPr>
        <p:spPr>
          <a:xfrm>
            <a:off x="311700" y="1152475"/>
            <a:ext cx="8520600" cy="37536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100">
                <a:solidFill>
                  <a:schemeClr val="dk1"/>
                </a:solidFill>
              </a:rPr>
              <a:t>Фаза 1:</a:t>
            </a:r>
            <a:r>
              <a:rPr lang="en" sz="1100">
                <a:solidFill>
                  <a:schemeClr val="dk1"/>
                </a:solidFill>
              </a:rPr>
              <a:t> до 1900-х — філософія, психологія, мистецтво, бажання зрозуміти суть людини.</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Фаза 2:</a:t>
            </a:r>
            <a:r>
              <a:rPr lang="en" sz="1100">
                <a:solidFill>
                  <a:schemeClr val="dk1"/>
                </a:solidFill>
              </a:rPr>
              <a:t> 1900-ті – 1956 — основи теорії обчислення (Тюрінг), теорії інформації (Шеннон), кібернетика.</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Фаза 3:</a:t>
            </a:r>
            <a:r>
              <a:rPr lang="en" sz="1100">
                <a:solidFill>
                  <a:schemeClr val="dk1"/>
                </a:solidFill>
              </a:rPr>
              <a:t> 1956–1972 — поява терміну ШІ на Дартмутській конференції (МакКартні). Очікування швидкого прогресу. Логіка, символьні правила, шахи — Good Old Fashioned AI. Персептрон. Івахненко. Літня школа МІТ </a:t>
            </a:r>
            <a:r>
              <a:rPr lang="en" sz="1200">
                <a:solidFill>
                  <a:srgbClr val="0A0A0A"/>
                </a:solidFill>
                <a:highlight>
                  <a:srgbClr val="FFFFFF"/>
                </a:highlight>
              </a:rPr>
              <a:t>1966</a:t>
            </a:r>
            <a:r>
              <a:rPr lang="en" sz="1100">
                <a:solidFill>
                  <a:schemeClr val="dk1"/>
                </a:solidFill>
              </a:rPr>
              <a:t>. Марвін Мінскі та проблема XOR. Доповідь Лайтхілла — зима штучного інтелекту.</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u="sng">
                <a:solidFill>
                  <a:schemeClr val="hlink"/>
                </a:solidFill>
                <a:hlinkClick r:id="rId3"/>
              </a:rPr>
              <a:t>The Lighthill debate on Artificial Intelligence: "The general purpose robot is a mirage"</a:t>
            </a:r>
            <a:r>
              <a:rPr lang="en" sz="1100">
                <a:solidFill>
                  <a:schemeClr val="dk1"/>
                </a:solidFill>
              </a:rPr>
              <a:t> </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Фаза 4:</a:t>
            </a:r>
            <a:r>
              <a:rPr lang="en" sz="1100">
                <a:solidFill>
                  <a:schemeClr val="dk1"/>
                </a:solidFill>
              </a:rPr>
              <a:t> 1972–1992 — експертні системи (https://cyc.com). Поява коннекціонізму. Неокогнітрон Фукушіми. Три рівні Д. Марра. </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Фаза 5:</a:t>
            </a:r>
            <a:r>
              <a:rPr lang="en" sz="1100">
                <a:solidFill>
                  <a:schemeClr val="dk1"/>
                </a:solidFill>
              </a:rPr>
              <a:t> 1992–2012 — машинне навчання (SVM, SLAM, classical CV)</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Фаза 6:</a:t>
            </a:r>
            <a:r>
              <a:rPr lang="en" sz="1100">
                <a:solidFill>
                  <a:schemeClr val="dk1"/>
                </a:solidFill>
              </a:rPr>
              <a:t> 2012–2020 — прорив ImageNet. Ребрендинг нейронних мереж у deep learning. Підсилення навчання з підкріпленням. </a:t>
            </a:r>
            <a:endParaRPr sz="1100">
              <a:solidFill>
                <a:schemeClr val="dk1"/>
              </a:solidFill>
            </a:endParaRPr>
          </a:p>
          <a:p>
            <a:pPr indent="0" lvl="0" marL="0" rtl="0" algn="l">
              <a:spcBef>
                <a:spcPts val="1200"/>
              </a:spcBef>
              <a:spcAft>
                <a:spcPts val="0"/>
              </a:spcAft>
              <a:buNone/>
            </a:pPr>
            <a:r>
              <a:rPr b="1" lang="en" sz="1100">
                <a:solidFill>
                  <a:schemeClr val="dk1"/>
                </a:solidFill>
              </a:rPr>
              <a:t>Фаза 7:</a:t>
            </a:r>
            <a:r>
              <a:rPr lang="en" sz="1100">
                <a:solidFill>
                  <a:schemeClr val="dk1"/>
                </a:solidFill>
              </a:rPr>
              <a:t> 2020–2026 — масштабування. Великі мовні моделі. Трансформери.</a:t>
            </a:r>
            <a:endParaRPr sz="1100">
              <a:solidFill>
                <a:schemeClr val="dk1"/>
              </a:solidFill>
            </a:endParaRPr>
          </a:p>
          <a:p>
            <a:pPr indent="0" lvl="0" marL="0" rtl="0" algn="l">
              <a:spcBef>
                <a:spcPts val="1200"/>
              </a:spcBef>
              <a:spcAft>
                <a:spcPts val="1200"/>
              </a:spcAft>
              <a:buClr>
                <a:schemeClr val="dk1"/>
              </a:buClr>
              <a:buSzPts val="1100"/>
              <a:buFont typeface="Arial"/>
              <a:buNone/>
            </a:pPr>
            <a:r>
              <a:rPr b="1" lang="en" sz="1100">
                <a:solidFill>
                  <a:schemeClr val="dk1"/>
                </a:solidFill>
              </a:rPr>
              <a:t>Фаза 8 (можливо): </a:t>
            </a:r>
            <a:r>
              <a:rPr lang="en" sz="1100">
                <a:solidFill>
                  <a:schemeClr val="dk1"/>
                </a:solidFill>
              </a:rPr>
              <a:t>202X - 203X - Physical AI (Embodied AI) ?</a:t>
            </a:r>
            <a:endParaRPr sz="11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По термінах</a:t>
            </a:r>
            <a:endParaRPr/>
          </a:p>
        </p:txBody>
      </p:sp>
      <p:sp>
        <p:nvSpPr>
          <p:cNvPr id="88" name="Google Shape;8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Природний інтелект</a:t>
            </a:r>
            <a:endParaRPr/>
          </a:p>
          <a:p>
            <a:pPr indent="0" lvl="0" marL="0" rtl="0" algn="l">
              <a:spcBef>
                <a:spcPts val="1200"/>
              </a:spcBef>
              <a:spcAft>
                <a:spcPts val="0"/>
              </a:spcAft>
              <a:buNone/>
            </a:pPr>
            <a:r>
              <a:rPr lang="en"/>
              <a:t>Штучний інтелект (AI)</a:t>
            </a:r>
            <a:endParaRPr/>
          </a:p>
          <a:p>
            <a:pPr indent="0" lvl="0" marL="0" rtl="0" algn="l">
              <a:spcBef>
                <a:spcPts val="1200"/>
              </a:spcBef>
              <a:spcAft>
                <a:spcPts val="0"/>
              </a:spcAft>
              <a:buNone/>
            </a:pPr>
            <a:r>
              <a:rPr lang="en"/>
              <a:t>Загальний штучний інтелект (AGI)</a:t>
            </a:r>
            <a:endParaRPr/>
          </a:p>
          <a:p>
            <a:pPr indent="0" lvl="0" marL="0" rtl="0" algn="l">
              <a:spcBef>
                <a:spcPts val="1200"/>
              </a:spcBef>
              <a:spcAft>
                <a:spcPts val="0"/>
              </a:spcAft>
              <a:buNone/>
            </a:pPr>
            <a:r>
              <a:rPr lang="en"/>
              <a:t>Штучний інтелект людського рівня (human level AI)</a:t>
            </a:r>
            <a:endParaRPr/>
          </a:p>
          <a:p>
            <a:pPr indent="0" lvl="0" marL="0" rtl="0" algn="l">
              <a:spcBef>
                <a:spcPts val="1200"/>
              </a:spcBef>
              <a:spcAft>
                <a:spcPts val="0"/>
              </a:spcAft>
              <a:buNone/>
            </a:pPr>
            <a:r>
              <a:rPr lang="en"/>
              <a:t>Сильний штучний інтелект (strong AI)</a:t>
            </a:r>
            <a:endParaRPr/>
          </a:p>
          <a:p>
            <a:pPr indent="0" lvl="0" marL="0" rtl="0" algn="l">
              <a:spcBef>
                <a:spcPts val="1200"/>
              </a:spcBef>
              <a:spcAft>
                <a:spcPts val="1200"/>
              </a:spcAft>
              <a:buNone/>
            </a:pPr>
            <a:r>
              <a:rPr lang="en"/>
              <a:t>Вузький штучний інтелект (narrow AI)</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Чому цей курс</a:t>
            </a:r>
            <a:endParaRPr/>
          </a:p>
        </p:txBody>
      </p:sp>
      <p:sp>
        <p:nvSpPr>
          <p:cNvPr id="94" name="Google Shape;94;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lang="en"/>
              <a:t>Бульбашка великих мовних мо</a:t>
            </a:r>
            <a:r>
              <a:rPr lang="en"/>
              <a:t>делей </a:t>
            </a:r>
            <a:endParaRPr/>
          </a:p>
          <a:p>
            <a:pPr indent="0" lvl="0" marL="457200" rtl="0" algn="l">
              <a:spcBef>
                <a:spcPts val="1200"/>
              </a:spcBef>
              <a:spcAft>
                <a:spcPts val="0"/>
              </a:spcAft>
              <a:buNone/>
            </a:pPr>
            <a:r>
              <a:rPr lang="en"/>
              <a:t>Автономні роботи </a:t>
            </a:r>
            <a:endParaRPr/>
          </a:p>
          <a:p>
            <a:pPr indent="0" lvl="0" marL="457200" rtl="0" algn="l">
              <a:spcBef>
                <a:spcPts val="1200"/>
              </a:spcBef>
              <a:spcAft>
                <a:spcPts val="1200"/>
              </a:spcAft>
              <a:buNone/>
            </a:pPr>
            <a:r>
              <a:rPr lang="en"/>
              <a:t>Щоб менше студентів йшли у веб розробку, а більше в робототехніку :)</a:t>
            </a:r>
            <a:endParaRPr/>
          </a:p>
        </p:txBody>
      </p:sp>
      <p:pic>
        <p:nvPicPr>
          <p:cNvPr id="95" name="Google Shape;95;p19"/>
          <p:cNvPicPr preferRelativeResize="0"/>
          <p:nvPr/>
        </p:nvPicPr>
        <p:blipFill>
          <a:blip r:embed="rId3">
            <a:alphaModFix/>
          </a:blip>
          <a:stretch>
            <a:fillRect/>
          </a:stretch>
        </p:blipFill>
        <p:spPr>
          <a:xfrm>
            <a:off x="5838813" y="3209913"/>
            <a:ext cx="3305175" cy="1933575"/>
          </a:xfrm>
          <a:prstGeom prst="rect">
            <a:avLst/>
          </a:prstGeom>
          <a:noFill/>
          <a:ln>
            <a:noFill/>
          </a:ln>
        </p:spPr>
      </p:pic>
      <p:sp>
        <p:nvSpPr>
          <p:cNvPr id="96" name="Google Shape;96;p19"/>
          <p:cNvSpPr txBox="1"/>
          <p:nvPr/>
        </p:nvSpPr>
        <p:spPr>
          <a:xfrm>
            <a:off x="2838825" y="3209925"/>
            <a:ext cx="30000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Lexend"/>
                <a:ea typeface="Lexend"/>
                <a:cs typeface="Lexend"/>
                <a:sym typeface="Lexend"/>
              </a:rPr>
              <a:t>he majority of respondents (76%) assert that “scaling up current AI approaches” to yield AGI is “unlikely” or “very unlikely” to succeed, suggesting doubts about whether current machine learning paradigms are sufficient for achieving general intelligence.</a:t>
            </a:r>
            <a:endParaRPr sz="11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Research again</a:t>
            </a:r>
            <a:endParaRPr/>
          </a:p>
        </p:txBody>
      </p:sp>
      <p:sp>
        <p:nvSpPr>
          <p:cNvPr id="102" name="Google Shape;102;p20"/>
          <p:cNvSpPr txBox="1"/>
          <p:nvPr>
            <p:ph idx="1" type="body"/>
          </p:nvPr>
        </p:nvSpPr>
        <p:spPr>
          <a:xfrm>
            <a:off x="311700" y="1152475"/>
            <a:ext cx="8520600" cy="42549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None/>
            </a:pPr>
            <a:r>
              <a:t/>
            </a:r>
            <a:endParaRPr sz="1100">
              <a:solidFill>
                <a:srgbClr val="000000"/>
              </a:solidFill>
            </a:endParaRPr>
          </a:p>
          <a:p>
            <a:pPr indent="0" lvl="0" marL="0" rtl="0" algn="l">
              <a:spcBef>
                <a:spcPts val="1200"/>
              </a:spcBef>
              <a:spcAft>
                <a:spcPts val="0"/>
              </a:spcAft>
              <a:buNone/>
            </a:pPr>
            <a:r>
              <a:t/>
            </a:r>
            <a:endParaRPr sz="1100">
              <a:solidFill>
                <a:srgbClr val="000000"/>
              </a:solidFill>
            </a:endParaRPr>
          </a:p>
          <a:p>
            <a:pPr indent="0" lvl="0" marL="0" rtl="0" algn="l">
              <a:spcBef>
                <a:spcPts val="1200"/>
              </a:spcBef>
              <a:spcAft>
                <a:spcPts val="0"/>
              </a:spcAft>
              <a:buNone/>
            </a:pPr>
            <a:r>
              <a:t/>
            </a:r>
            <a:endParaRPr sz="1100">
              <a:solidFill>
                <a:srgbClr val="000000"/>
              </a:solidFill>
            </a:endParaRPr>
          </a:p>
          <a:p>
            <a:pPr indent="0" lvl="0" marL="0" rtl="0" algn="l">
              <a:spcBef>
                <a:spcPts val="1200"/>
              </a:spcBef>
              <a:spcAft>
                <a:spcPts val="0"/>
              </a:spcAft>
              <a:buNone/>
            </a:pPr>
            <a:r>
              <a:t/>
            </a:r>
            <a:endParaRPr sz="1100">
              <a:solidFill>
                <a:srgbClr val="000000"/>
              </a:solidFill>
            </a:endParaRPr>
          </a:p>
          <a:p>
            <a:pPr indent="0" lvl="0" marL="0" rtl="0" algn="l">
              <a:spcBef>
                <a:spcPts val="1200"/>
              </a:spcBef>
              <a:spcAft>
                <a:spcPts val="0"/>
              </a:spcAft>
              <a:buNone/>
            </a:pPr>
            <a:r>
              <a:t/>
            </a:r>
            <a:endParaRPr sz="1100">
              <a:solidFill>
                <a:srgbClr val="000000"/>
              </a:solidFill>
            </a:endParaRPr>
          </a:p>
          <a:p>
            <a:pPr indent="0" lvl="0" marL="0" rtl="0" algn="l">
              <a:spcBef>
                <a:spcPts val="1200"/>
              </a:spcBef>
              <a:spcAft>
                <a:spcPts val="0"/>
              </a:spcAft>
              <a:buNone/>
            </a:pPr>
            <a:r>
              <a:t/>
            </a:r>
            <a:endParaRPr sz="1100">
              <a:solidFill>
                <a:srgbClr val="000000"/>
              </a:solidFill>
            </a:endParaRPr>
          </a:p>
          <a:p>
            <a:pPr indent="0" lvl="0" marL="0" rtl="0" algn="l">
              <a:spcBef>
                <a:spcPts val="1200"/>
              </a:spcBef>
              <a:spcAft>
                <a:spcPts val="0"/>
              </a:spcAft>
              <a:buNone/>
            </a:pPr>
            <a:r>
              <a:t/>
            </a:r>
            <a:endParaRPr sz="1100">
              <a:solidFill>
                <a:srgbClr val="000000"/>
              </a:solidFill>
            </a:endParaRPr>
          </a:p>
          <a:p>
            <a:pPr indent="0" lvl="0" marL="0" rtl="0" algn="l">
              <a:spcBef>
                <a:spcPts val="1200"/>
              </a:spcBef>
              <a:spcAft>
                <a:spcPts val="0"/>
              </a:spcAft>
              <a:buNone/>
            </a:pPr>
            <a:r>
              <a:t/>
            </a:r>
            <a:endParaRPr sz="1100">
              <a:solidFill>
                <a:srgbClr val="000000"/>
              </a:solidFill>
            </a:endParaRPr>
          </a:p>
          <a:p>
            <a:pPr indent="0" lvl="0" marL="0" rtl="0" algn="l">
              <a:spcBef>
                <a:spcPts val="1200"/>
              </a:spcBef>
              <a:spcAft>
                <a:spcPts val="0"/>
              </a:spcAft>
              <a:buNone/>
            </a:pPr>
            <a:r>
              <a:t/>
            </a:r>
            <a:endParaRPr sz="1100">
              <a:solidFill>
                <a:srgbClr val="000000"/>
              </a:solidFill>
            </a:endParaRPr>
          </a:p>
          <a:p>
            <a:pPr indent="0" lvl="0" marL="0" rtl="0" algn="l">
              <a:spcBef>
                <a:spcPts val="1200"/>
              </a:spcBef>
              <a:spcAft>
                <a:spcPts val="0"/>
              </a:spcAft>
              <a:buNone/>
            </a:pPr>
            <a:r>
              <a:rPr lang="en" sz="1100">
                <a:solidFill>
                  <a:srgbClr val="000000"/>
                </a:solidFill>
              </a:rPr>
              <a:t>Ilya Sutskever (Листопад 2025)</a:t>
            </a:r>
            <a:r>
              <a:rPr lang="en" sz="1100">
                <a:solidFill>
                  <a:srgbClr val="000000"/>
                </a:solidFill>
                <a:uFill>
                  <a:noFill/>
                </a:uFill>
                <a:hlinkClick r:id="rId3">
                  <a:extLst>
                    <a:ext uri="{A12FA001-AC4F-418D-AE19-62706E023703}">
                      <ahyp:hlinkClr val="tx"/>
                    </a:ext>
                  </a:extLst>
                </a:hlinkClick>
              </a:rPr>
              <a:t> </a:t>
            </a:r>
            <a:r>
              <a:rPr lang="en" sz="1100" u="sng">
                <a:solidFill>
                  <a:schemeClr val="hlink"/>
                </a:solidFill>
                <a:hlinkClick r:id="rId4"/>
              </a:rPr>
              <a:t>https://youtu.be/aR20FWCCjAs?si=rJozbL7OEFweOFBC</a:t>
            </a:r>
            <a:r>
              <a:rPr lang="en" sz="1100" u="sng">
                <a:solidFill>
                  <a:schemeClr val="hlink"/>
                </a:solidFill>
              </a:rPr>
              <a:t> </a:t>
            </a:r>
            <a:endParaRPr sz="1100" u="sng">
              <a:solidFill>
                <a:schemeClr val="hlink"/>
              </a:solidFill>
            </a:endParaRPr>
          </a:p>
          <a:p>
            <a:pPr indent="0" lvl="0" marL="0" rtl="0" algn="l">
              <a:spcBef>
                <a:spcPts val="1200"/>
              </a:spcBef>
              <a:spcAft>
                <a:spcPts val="0"/>
              </a:spcAft>
              <a:buNone/>
            </a:pPr>
            <a:r>
              <a:rPr lang="en" sz="1100">
                <a:solidFill>
                  <a:srgbClr val="000000"/>
                </a:solidFill>
              </a:rPr>
              <a:t>(Листопад 2025) Цікаве обговорення на редіт</a:t>
            </a:r>
            <a:r>
              <a:rPr lang="en" sz="1100">
                <a:solidFill>
                  <a:srgbClr val="000000"/>
                </a:solidFill>
                <a:uFill>
                  <a:noFill/>
                </a:uFill>
                <a:hlinkClick r:id="rId5">
                  <a:extLst>
                    <a:ext uri="{A12FA001-AC4F-418D-AE19-62706E023703}">
                      <ahyp:hlinkClr val="tx"/>
                    </a:ext>
                  </a:extLst>
                </a:hlinkClick>
              </a:rPr>
              <a:t> </a:t>
            </a:r>
            <a:r>
              <a:rPr lang="en" sz="1100" u="sng">
                <a:solidFill>
                  <a:schemeClr val="hlink"/>
                </a:solidFill>
                <a:hlinkClick r:id="rId6"/>
              </a:rPr>
              <a:t>https://www.reddit.com/r/datascience/comments/1oylljh/metas_top_ai_researchers_thinks_llms_are_a_dead/</a:t>
            </a:r>
            <a:endParaRPr sz="1100" u="sng">
              <a:solidFill>
                <a:schemeClr val="hlink"/>
              </a:solidFill>
            </a:endParaRPr>
          </a:p>
          <a:p>
            <a:pPr indent="0" lvl="0" marL="0" rtl="0" algn="l">
              <a:spcBef>
                <a:spcPts val="1200"/>
              </a:spcBef>
              <a:spcAft>
                <a:spcPts val="1200"/>
              </a:spcAft>
              <a:buNone/>
            </a:pPr>
            <a:r>
              <a:t/>
            </a:r>
            <a:endParaRPr/>
          </a:p>
        </p:txBody>
      </p:sp>
      <p:pic>
        <p:nvPicPr>
          <p:cNvPr id="103" name="Google Shape;103;p20"/>
          <p:cNvPicPr preferRelativeResize="0"/>
          <p:nvPr/>
        </p:nvPicPr>
        <p:blipFill>
          <a:blip r:embed="rId7">
            <a:alphaModFix/>
          </a:blip>
          <a:stretch>
            <a:fillRect/>
          </a:stretch>
        </p:blipFill>
        <p:spPr>
          <a:xfrm>
            <a:off x="1610088" y="1143000"/>
            <a:ext cx="5343525" cy="2857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Bitter lessons</a:t>
            </a:r>
            <a:endParaRPr/>
          </a:p>
        </p:txBody>
      </p:sp>
      <p:sp>
        <p:nvSpPr>
          <p:cNvPr id="109" name="Google Shape;109;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Methods that leverage computation and learning scale better than methods that rely on human knowledge. Sutton 2019 (</a:t>
            </a:r>
            <a:r>
              <a:rPr lang="en"/>
              <a:t>http://www.incompleteideas.net/IncIdeas/BitterLesson.html</a:t>
            </a:r>
            <a:r>
              <a:rPr lang="en"/>
              <a:t>)</a:t>
            </a:r>
            <a:endParaRPr/>
          </a:p>
          <a:p>
            <a:pPr indent="0" lvl="0" marL="0" rtl="0" algn="l">
              <a:spcBef>
                <a:spcPts val="1200"/>
              </a:spcBef>
              <a:spcAft>
                <a:spcPts val="1200"/>
              </a:spcAft>
              <a:buNone/>
            </a:pPr>
            <a:r>
              <a:t/>
            </a:r>
            <a:endParaRPr/>
          </a:p>
        </p:txBody>
      </p:sp>
      <p:pic>
        <p:nvPicPr>
          <p:cNvPr id="110" name="Google Shape;110;p21"/>
          <p:cNvPicPr preferRelativeResize="0"/>
          <p:nvPr/>
        </p:nvPicPr>
        <p:blipFill>
          <a:blip r:embed="rId3">
            <a:alphaModFix/>
          </a:blip>
          <a:stretch>
            <a:fillRect/>
          </a:stretch>
        </p:blipFill>
        <p:spPr>
          <a:xfrm>
            <a:off x="4442850" y="2497575"/>
            <a:ext cx="4330276" cy="2437200"/>
          </a:xfrm>
          <a:prstGeom prst="rect">
            <a:avLst/>
          </a:prstGeom>
          <a:noFill/>
          <a:ln>
            <a:noFill/>
          </a:ln>
        </p:spPr>
      </p:pic>
      <p:pic>
        <p:nvPicPr>
          <p:cNvPr id="111" name="Google Shape;111;p21"/>
          <p:cNvPicPr preferRelativeResize="0"/>
          <p:nvPr/>
        </p:nvPicPr>
        <p:blipFill>
          <a:blip r:embed="rId4">
            <a:alphaModFix/>
          </a:blip>
          <a:stretch>
            <a:fillRect/>
          </a:stretch>
        </p:blipFill>
        <p:spPr>
          <a:xfrm>
            <a:off x="0" y="2170625"/>
            <a:ext cx="2229201" cy="29728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Додаткові уроки</a:t>
            </a:r>
            <a:endParaRPr/>
          </a:p>
        </p:txBody>
      </p:sp>
      <p:sp>
        <p:nvSpPr>
          <p:cNvPr id="117" name="Google Shape;117;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Неправильні оцінки коли буде ШІ. Недооцінювання складності задачі</a:t>
            </a:r>
            <a:endParaRPr/>
          </a:p>
          <a:p>
            <a:pPr indent="-342900" lvl="0" marL="457200" rtl="0" algn="l">
              <a:spcBef>
                <a:spcPts val="0"/>
              </a:spcBef>
              <a:spcAft>
                <a:spcPts val="0"/>
              </a:spcAft>
              <a:buSzPts val="1800"/>
              <a:buAutoNum type="arabicPeriod"/>
            </a:pPr>
            <a:r>
              <a:rPr lang="en"/>
              <a:t>Бізнес впливає на науку</a:t>
            </a:r>
            <a:endParaRPr/>
          </a:p>
          <a:p>
            <a:pPr indent="-342900" lvl="0" marL="457200" rtl="0" algn="l">
              <a:spcBef>
                <a:spcPts val="0"/>
              </a:spcBef>
              <a:spcAft>
                <a:spcPts val="0"/>
              </a:spcAft>
              <a:buSzPts val="1800"/>
              <a:buAutoNum type="arabicPeriod"/>
            </a:pPr>
            <a:r>
              <a:rPr lang="en"/>
              <a:t>Representation Learning Beats Feature Engineering</a:t>
            </a:r>
            <a:endParaRPr/>
          </a:p>
          <a:p>
            <a:pPr indent="-342900" lvl="0" marL="457200" rtl="0" algn="l">
              <a:spcBef>
                <a:spcPts val="0"/>
              </a:spcBef>
              <a:spcAft>
                <a:spcPts val="0"/>
              </a:spcAft>
              <a:buSzPts val="1800"/>
              <a:buAutoNum type="arabicPeriod"/>
            </a:pPr>
            <a:r>
              <a:rPr lang="en"/>
              <a:t>Emergence Beats Design</a:t>
            </a:r>
            <a:endParaRPr/>
          </a:p>
          <a:p>
            <a:pPr indent="-342900" lvl="0" marL="457200" rtl="0" algn="l">
              <a:spcBef>
                <a:spcPts val="0"/>
              </a:spcBef>
              <a:spcAft>
                <a:spcPts val="0"/>
              </a:spcAft>
              <a:buSzPts val="1800"/>
              <a:buAutoNum type="arabicPeriod"/>
            </a:pPr>
            <a:r>
              <a:rPr lang="en"/>
              <a:t>Intelligence Is Not Modular </a:t>
            </a:r>
            <a:endParaRPr/>
          </a:p>
          <a:p>
            <a:pPr indent="-342900" lvl="0" marL="457200" rtl="0" algn="l">
              <a:spcBef>
                <a:spcPts val="0"/>
              </a:spcBef>
              <a:spcAft>
                <a:spcPts val="0"/>
              </a:spcAft>
              <a:buSzPts val="1800"/>
              <a:buAutoNum type="arabicPeriod"/>
            </a:pPr>
            <a:r>
              <a:rPr lang="en" strike="sngStrike"/>
              <a:t>Benchmarks Drive Reality</a:t>
            </a:r>
            <a:endParaRPr strike="sngStrike"/>
          </a:p>
          <a:p>
            <a:pPr indent="-342900" lvl="0" marL="457200" rtl="0" algn="l">
              <a:spcBef>
                <a:spcPts val="0"/>
              </a:spcBef>
              <a:spcAft>
                <a:spcPts val="0"/>
              </a:spcAft>
              <a:buSzPts val="1800"/>
              <a:buAutoNum type="arabicPeriod"/>
            </a:pPr>
            <a:r>
              <a:rPr lang="en" strike="sngStrike"/>
              <a:t>Understanding Lags Far Behind Capability</a:t>
            </a:r>
            <a:endParaRPr strike="sngStrike"/>
          </a:p>
          <a:p>
            <a:pPr indent="-342900" lvl="0" marL="457200" rtl="0" algn="l">
              <a:spcBef>
                <a:spcPts val="0"/>
              </a:spcBef>
              <a:spcAft>
                <a:spcPts val="0"/>
              </a:spcAft>
              <a:buSzPts val="1800"/>
              <a:buAutoNum type="arabicPeriod"/>
            </a:pPr>
            <a:r>
              <a:rPr lang="en" strike="sngStrike"/>
              <a:t>Trying to make AI “think like humans” slows progress.</a:t>
            </a:r>
            <a:endParaRPr strike="sng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Основні напрямки 2026	</a:t>
            </a:r>
            <a:endParaRPr/>
          </a:p>
        </p:txBody>
      </p:sp>
      <p:sp>
        <p:nvSpPr>
          <p:cNvPr id="123" name="Google Shape;123;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457200" rtl="0" algn="l">
              <a:spcBef>
                <a:spcPts val="0"/>
              </a:spcBef>
              <a:spcAft>
                <a:spcPts val="0"/>
              </a:spcAft>
              <a:buNone/>
            </a:pPr>
            <a:r>
              <a:rPr lang="en"/>
              <a:t>Великі</a:t>
            </a:r>
            <a:endParaRPr/>
          </a:p>
          <a:p>
            <a:pPr indent="-342900" lvl="0" marL="457200" rtl="0" algn="l">
              <a:spcBef>
                <a:spcPts val="1200"/>
              </a:spcBef>
              <a:spcAft>
                <a:spcPts val="0"/>
              </a:spcAft>
              <a:buSzPts val="1800"/>
              <a:buAutoNum type="arabicPeriod"/>
            </a:pPr>
            <a:r>
              <a:rPr lang="en"/>
              <a:t>LLM, transformers. Scaling</a:t>
            </a:r>
            <a:endParaRPr/>
          </a:p>
          <a:p>
            <a:pPr indent="-342900" lvl="0" marL="457200" rtl="0" algn="l">
              <a:spcBef>
                <a:spcPts val="0"/>
              </a:spcBef>
              <a:spcAft>
                <a:spcPts val="0"/>
              </a:spcAft>
              <a:buSzPts val="1800"/>
              <a:buAutoNum type="arabicPeriod"/>
            </a:pPr>
            <a:r>
              <a:rPr lang="en"/>
              <a:t>RL. Agents</a:t>
            </a:r>
            <a:endParaRPr/>
          </a:p>
          <a:p>
            <a:pPr indent="-342900" lvl="0" marL="457200" rtl="0" algn="l">
              <a:spcBef>
                <a:spcPts val="0"/>
              </a:spcBef>
              <a:spcAft>
                <a:spcPts val="0"/>
              </a:spcAft>
              <a:buSzPts val="1800"/>
              <a:buAutoNum type="arabicPeriod"/>
            </a:pPr>
            <a:r>
              <a:rPr lang="en"/>
              <a:t>Neuroscience</a:t>
            </a:r>
            <a:endParaRPr/>
          </a:p>
          <a:p>
            <a:pPr indent="-342900" lvl="0" marL="457200" rtl="0" algn="l">
              <a:spcBef>
                <a:spcPts val="0"/>
              </a:spcBef>
              <a:spcAft>
                <a:spcPts val="0"/>
              </a:spcAft>
              <a:buSzPts val="1800"/>
              <a:buAutoNum type="arabicPeriod"/>
            </a:pPr>
            <a:r>
              <a:rPr lang="en"/>
              <a:t>Neuro symbolic AI</a:t>
            </a:r>
            <a:endParaRPr/>
          </a:p>
          <a:p>
            <a:pPr indent="-342900" lvl="0" marL="457200" rtl="0" algn="l">
              <a:spcBef>
                <a:spcPts val="0"/>
              </a:spcBef>
              <a:spcAft>
                <a:spcPts val="0"/>
              </a:spcAft>
              <a:buSzPts val="1800"/>
              <a:buAutoNum type="arabicPeriod"/>
            </a:pPr>
            <a:r>
              <a:rPr lang="en"/>
              <a:t>Embodied AI (robotics)</a:t>
            </a:r>
            <a:endParaRPr/>
          </a:p>
          <a:p>
            <a:pPr indent="0" lvl="0" marL="0" rtl="0" algn="l">
              <a:spcBef>
                <a:spcPts val="1200"/>
              </a:spcBef>
              <a:spcAft>
                <a:spcPts val="0"/>
              </a:spcAft>
              <a:buNone/>
            </a:pPr>
            <a:r>
              <a:rPr lang="en"/>
              <a:t>Поменші</a:t>
            </a:r>
            <a:endParaRPr/>
          </a:p>
          <a:p>
            <a:pPr indent="-342900" lvl="0" marL="457200" rtl="0" algn="l">
              <a:spcBef>
                <a:spcPts val="1200"/>
              </a:spcBef>
              <a:spcAft>
                <a:spcPts val="0"/>
              </a:spcAft>
              <a:buSzPts val="1800"/>
              <a:buAutoNum type="arabicPeriod"/>
            </a:pPr>
            <a:r>
              <a:rPr lang="en"/>
              <a:t>Algorithmic information theory</a:t>
            </a:r>
            <a:endParaRPr/>
          </a:p>
          <a:p>
            <a:pPr indent="-342900" lvl="0" marL="457200" rtl="0" algn="l">
              <a:spcBef>
                <a:spcPts val="0"/>
              </a:spcBef>
              <a:spcAft>
                <a:spcPts val="0"/>
              </a:spcAft>
              <a:buSzPts val="1800"/>
              <a:buAutoNum type="arabicPeriod"/>
            </a:pPr>
            <a:r>
              <a:rPr lang="en"/>
              <a:t>Sparse coding</a:t>
            </a:r>
            <a:endParaRPr/>
          </a:p>
          <a:p>
            <a:pPr indent="-342900" lvl="0" marL="457200" rtl="0" algn="l">
              <a:spcBef>
                <a:spcPts val="0"/>
              </a:spcBef>
              <a:spcAft>
                <a:spcPts val="0"/>
              </a:spcAft>
              <a:buSzPts val="1800"/>
              <a:buAutoNum type="arabicPeriod"/>
            </a:pPr>
            <a:r>
              <a:rPr lang="en"/>
              <a:t>Cognitive AI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24"/>
          <p:cNvPicPr preferRelativeResize="0"/>
          <p:nvPr/>
        </p:nvPicPr>
        <p:blipFill rotWithShape="1">
          <a:blip r:embed="rId3">
            <a:alphaModFix/>
          </a:blip>
          <a:srcRect b="0" l="3104" r="6651" t="0"/>
          <a:stretch/>
        </p:blipFill>
        <p:spPr>
          <a:xfrm>
            <a:off x="1075300" y="741763"/>
            <a:ext cx="6139800" cy="3827100"/>
          </a:xfrm>
          <a:prstGeom prst="roundRect">
            <a:avLst>
              <a:gd fmla="val 2815" name="adj"/>
            </a:avLst>
          </a:prstGeom>
          <a:noFill/>
          <a:ln>
            <a:noFill/>
          </a:ln>
        </p:spPr>
      </p:pic>
      <p:sp>
        <p:nvSpPr>
          <p:cNvPr id="129" name="Google Shape;129;p24"/>
          <p:cNvSpPr txBox="1"/>
          <p:nvPr/>
        </p:nvSpPr>
        <p:spPr>
          <a:xfrm>
            <a:off x="77175" y="4673150"/>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https://osaulenko-vm.medium.com/ai-map-2020-9305a33b24b0</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Перерва</a:t>
            </a:r>
            <a:endParaRPr/>
          </a:p>
        </p:txBody>
      </p:sp>
      <p:sp>
        <p:nvSpPr>
          <p:cNvPr id="135" name="Google Shape;135;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Що таке інтелект?</a:t>
            </a:r>
            <a:endParaRPr/>
          </a:p>
        </p:txBody>
      </p:sp>
      <p:sp>
        <p:nvSpPr>
          <p:cNvPr id="141" name="Google Shape;141;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Intelligence measures an agent's ability to achieve goals in a wide range of environments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sz="1000">
                <a:solidFill>
                  <a:srgbClr val="222222"/>
                </a:solidFill>
                <a:highlight>
                  <a:srgbClr val="FFFFFF"/>
                </a:highlight>
              </a:rPr>
              <a:t>Legg, S., &amp; Hutter, M. (2007). A collection of definitions of intelligence. </a:t>
            </a:r>
            <a:r>
              <a:rPr i="1" lang="en" sz="1000">
                <a:solidFill>
                  <a:srgbClr val="222222"/>
                </a:solidFill>
                <a:highlight>
                  <a:srgbClr val="FFFFFF"/>
                </a:highlight>
              </a:rPr>
              <a:t>Frontiers in Artificial Intelligence and applications</a:t>
            </a:r>
            <a:r>
              <a:rPr lang="en" sz="1000">
                <a:solidFill>
                  <a:srgbClr val="222222"/>
                </a:solidFill>
                <a:highlight>
                  <a:srgbClr val="FFFFFF"/>
                </a:highlight>
              </a:rPr>
              <a:t>, </a:t>
            </a:r>
            <a:r>
              <a:rPr i="1" lang="en" sz="1000">
                <a:solidFill>
                  <a:srgbClr val="222222"/>
                </a:solidFill>
                <a:highlight>
                  <a:srgbClr val="FFFFFF"/>
                </a:highlight>
              </a:rPr>
              <a:t>157</a:t>
            </a:r>
            <a:r>
              <a:rPr lang="en" sz="1000">
                <a:solidFill>
                  <a:srgbClr val="222222"/>
                </a:solidFill>
                <a:highlight>
                  <a:srgbClr val="FFFFFF"/>
                </a:highlight>
              </a:rPr>
              <a:t>, 17.</a:t>
            </a:r>
            <a:endParaRPr/>
          </a:p>
        </p:txBody>
      </p:sp>
      <p:pic>
        <p:nvPicPr>
          <p:cNvPr id="142" name="Google Shape;142;p26"/>
          <p:cNvPicPr preferRelativeResize="0"/>
          <p:nvPr/>
        </p:nvPicPr>
        <p:blipFill>
          <a:blip r:embed="rId3">
            <a:alphaModFix/>
          </a:blip>
          <a:stretch>
            <a:fillRect/>
          </a:stretch>
        </p:blipFill>
        <p:spPr>
          <a:xfrm>
            <a:off x="7162348" y="2611100"/>
            <a:ext cx="1938925" cy="25324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Рівні представлення</a:t>
            </a:r>
            <a:endParaRPr/>
          </a:p>
        </p:txBody>
      </p:sp>
      <p:sp>
        <p:nvSpPr>
          <p:cNvPr id="148" name="Google Shape;148;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Feedback vs anticipatory regulation</a:t>
            </a:r>
            <a:endParaRPr/>
          </a:p>
        </p:txBody>
      </p:sp>
      <p:sp>
        <p:nvSpPr>
          <p:cNvPr id="154" name="Google Shape;154;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5" name="Google Shape;155;p28"/>
          <p:cNvPicPr preferRelativeResize="0"/>
          <p:nvPr/>
        </p:nvPicPr>
        <p:blipFill rotWithShape="1">
          <a:blip r:embed="rId3">
            <a:alphaModFix/>
          </a:blip>
          <a:srcRect b="0" l="0" r="0" t="0"/>
          <a:stretch/>
        </p:blipFill>
        <p:spPr>
          <a:xfrm>
            <a:off x="311703" y="1152472"/>
            <a:ext cx="5769051" cy="2881025"/>
          </a:xfrm>
          <a:prstGeom prst="rect">
            <a:avLst/>
          </a:prstGeom>
          <a:noFill/>
          <a:ln>
            <a:noFill/>
          </a:ln>
        </p:spPr>
      </p:pic>
      <p:sp>
        <p:nvSpPr>
          <p:cNvPr id="156" name="Google Shape;156;p28"/>
          <p:cNvSpPr txBox="1"/>
          <p:nvPr/>
        </p:nvSpPr>
        <p:spPr>
          <a:xfrm>
            <a:off x="3895475" y="4363875"/>
            <a:ext cx="501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https://www.youtube.com/watch?v=MNzFcOaThIg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Чому еволюційно розвинувся інтелект?</a:t>
            </a:r>
            <a:endParaRPr/>
          </a:p>
        </p:txBody>
      </p:sp>
      <p:sp>
        <p:nvSpPr>
          <p:cNvPr id="162" name="Google Shape;162;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u="sng">
                <a:solidFill>
                  <a:schemeClr val="hlink"/>
                </a:solidFill>
                <a:hlinkClick r:id="rId3"/>
              </a:rPr>
              <a:t>https://www.youtube.com/watch?v=75k8sqh5tfQ</a:t>
            </a:r>
            <a:r>
              <a:rPr lang="en"/>
              <a:t> </a:t>
            </a:r>
            <a:endParaRPr/>
          </a:p>
          <a:p>
            <a:pPr indent="0" lvl="0" marL="0" rtl="0" algn="l">
              <a:spcBef>
                <a:spcPts val="1200"/>
              </a:spcBef>
              <a:spcAft>
                <a:spcPts val="0"/>
              </a:spcAft>
              <a:buNone/>
            </a:pPr>
            <a:r>
              <a:rPr lang="en"/>
              <a:t>Одноклітинні організми</a:t>
            </a:r>
            <a:endParaRPr/>
          </a:p>
          <a:p>
            <a:pPr indent="0" lvl="0" marL="0" rtl="0" algn="l">
              <a:spcBef>
                <a:spcPts val="1200"/>
              </a:spcBef>
              <a:spcAft>
                <a:spcPts val="0"/>
              </a:spcAft>
              <a:buNone/>
            </a:pPr>
            <a:r>
              <a:rPr lang="en"/>
              <a:t>Багатоклітинні </a:t>
            </a:r>
            <a:endParaRPr/>
          </a:p>
          <a:p>
            <a:pPr indent="0" lvl="0" marL="0" rtl="0" algn="l">
              <a:spcBef>
                <a:spcPts val="1200"/>
              </a:spcBef>
              <a:spcAft>
                <a:spcPts val="0"/>
              </a:spcAft>
              <a:buNone/>
            </a:pPr>
            <a:r>
              <a:rPr lang="en"/>
              <a:t>Соціум</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Щоб ефективніше здобувати, зберігати і використовувати енергію для виживання та розмноження.</a:t>
            </a:r>
            <a:endParaRPr/>
          </a:p>
          <a:p>
            <a:pPr indent="0" lvl="0" marL="0" rtl="0" algn="l">
              <a:spcBef>
                <a:spcPts val="1200"/>
              </a:spcBef>
              <a:spcAft>
                <a:spcPts val="1200"/>
              </a:spcAft>
              <a:buNone/>
            </a:pPr>
            <a:r>
              <a:rPr lang="en"/>
              <a:t>Спеціалізація та кооперація</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Як формується модель середовища</a:t>
            </a:r>
            <a:endParaRPr/>
          </a:p>
        </p:txBody>
      </p:sp>
      <p:sp>
        <p:nvSpPr>
          <p:cNvPr id="168" name="Google Shape;168;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Nature</a:t>
            </a:r>
            <a:r>
              <a:rPr lang="en"/>
              <a:t> vs nurture </a:t>
            </a:r>
            <a:endParaRPr/>
          </a:p>
        </p:txBody>
      </p:sp>
      <p:pic>
        <p:nvPicPr>
          <p:cNvPr id="169" name="Google Shape;169;p30"/>
          <p:cNvPicPr preferRelativeResize="0"/>
          <p:nvPr/>
        </p:nvPicPr>
        <p:blipFill>
          <a:blip r:embed="rId3">
            <a:alphaModFix/>
          </a:blip>
          <a:stretch>
            <a:fillRect/>
          </a:stretch>
        </p:blipFill>
        <p:spPr>
          <a:xfrm>
            <a:off x="226225" y="2416349"/>
            <a:ext cx="7468100" cy="2002150"/>
          </a:xfrm>
          <a:prstGeom prst="rect">
            <a:avLst/>
          </a:prstGeom>
          <a:noFill/>
          <a:ln>
            <a:noFill/>
          </a:ln>
        </p:spPr>
      </p:pic>
      <p:sp>
        <p:nvSpPr>
          <p:cNvPr id="170" name="Google Shape;170;p30"/>
          <p:cNvSpPr txBox="1"/>
          <p:nvPr/>
        </p:nvSpPr>
        <p:spPr>
          <a:xfrm>
            <a:off x="6056325" y="4336775"/>
            <a:ext cx="3291000" cy="149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Turing, A. M. (1950). </a:t>
            </a:r>
            <a:r>
              <a:rPr i="1" lang="en" sz="1100">
                <a:solidFill>
                  <a:schemeClr val="dk1"/>
                </a:solidFill>
              </a:rPr>
              <a:t>Computing machinery and intelligence</a:t>
            </a:r>
            <a:r>
              <a:rPr lang="en" sz="1100">
                <a:solidFill>
                  <a:schemeClr val="dk1"/>
                </a:solidFill>
              </a:rPr>
              <a:t>. </a:t>
            </a:r>
            <a:r>
              <a:rPr b="1" lang="en" sz="1100">
                <a:solidFill>
                  <a:schemeClr val="dk1"/>
                </a:solidFill>
              </a:rPr>
              <a:t>Mind, 59</a:t>
            </a:r>
            <a:r>
              <a:rPr lang="en" sz="1100">
                <a:solidFill>
                  <a:schemeClr val="dk1"/>
                </a:solidFill>
              </a:rPr>
              <a:t>(236), 433–460.</a:t>
            </a:r>
            <a:r>
              <a:rPr lang="en" sz="1100">
                <a:solidFill>
                  <a:schemeClr val="dk1"/>
                </a:solidFill>
                <a:uFill>
                  <a:noFill/>
                </a:uFill>
                <a:hlinkClick r:id="rId4">
                  <a:extLst>
                    <a:ext uri="{A12FA001-AC4F-418D-AE19-62706E023703}">
                      <ahyp:hlinkClr val="tx"/>
                    </a:ext>
                  </a:extLst>
                </a:hlinkClick>
              </a:rPr>
              <a:t> </a:t>
            </a:r>
            <a:r>
              <a:rPr lang="en" sz="1100" u="sng">
                <a:solidFill>
                  <a:schemeClr val="hlink"/>
                </a:solidFill>
                <a:hlinkClick r:id="rId5"/>
              </a:rPr>
              <a:t>https://doi.org/10.1093/mind/LIX.236.433</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76" name="Google Shape;176;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7" name="Google Shape;177;p31"/>
          <p:cNvPicPr preferRelativeResize="0"/>
          <p:nvPr/>
        </p:nvPicPr>
        <p:blipFill rotWithShape="1">
          <a:blip r:embed="rId3">
            <a:alphaModFix/>
          </a:blip>
          <a:srcRect b="0" l="0" r="0" t="0"/>
          <a:stretch/>
        </p:blipFill>
        <p:spPr>
          <a:xfrm>
            <a:off x="311725" y="309225"/>
            <a:ext cx="5954100" cy="3093900"/>
          </a:xfrm>
          <a:prstGeom prst="roundRect">
            <a:avLst>
              <a:gd fmla="val 6417" name="adj"/>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2"/>
          <p:cNvSpPr txBox="1"/>
          <p:nvPr>
            <p:ph type="title"/>
          </p:nvPr>
        </p:nvSpPr>
        <p:spPr>
          <a:xfrm>
            <a:off x="531976" y="211508"/>
            <a:ext cx="7983600" cy="3588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t/>
            </a:r>
            <a:endParaRPr/>
          </a:p>
        </p:txBody>
      </p:sp>
      <p:sp>
        <p:nvSpPr>
          <p:cNvPr id="183" name="Google Shape;183;p32"/>
          <p:cNvSpPr txBox="1"/>
          <p:nvPr>
            <p:ph idx="1" type="body"/>
          </p:nvPr>
        </p:nvSpPr>
        <p:spPr>
          <a:xfrm>
            <a:off x="628650" y="692210"/>
            <a:ext cx="7886700" cy="39405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b="1" lang="en" sz="2100">
                <a:solidFill>
                  <a:schemeClr val="dk1"/>
                </a:solidFill>
                <a:latin typeface="Merriweather"/>
                <a:ea typeface="Merriweather"/>
                <a:cs typeface="Merriweather"/>
                <a:sym typeface="Merriweather"/>
              </a:rPr>
              <a:t>Lifelong learning</a:t>
            </a:r>
            <a:endParaRPr b="1" sz="2100">
              <a:solidFill>
                <a:schemeClr val="dk1"/>
              </a:solidFill>
              <a:latin typeface="Merriweather"/>
              <a:ea typeface="Merriweather"/>
              <a:cs typeface="Merriweather"/>
              <a:sym typeface="Merriweather"/>
            </a:endParaRPr>
          </a:p>
          <a:p>
            <a:pPr indent="0" lvl="0" marL="0" rtl="0" algn="l">
              <a:spcBef>
                <a:spcPts val="800"/>
              </a:spcBef>
              <a:spcAft>
                <a:spcPts val="0"/>
              </a:spcAft>
              <a:buNone/>
            </a:pPr>
            <a:r>
              <a:rPr lang="en"/>
              <a:t>Пам’ять</a:t>
            </a:r>
            <a:endParaRPr/>
          </a:p>
          <a:p>
            <a:pPr indent="0" lvl="0" marL="0" rtl="0" algn="l">
              <a:spcBef>
                <a:spcPts val="1200"/>
              </a:spcBef>
              <a:spcAft>
                <a:spcPts val="0"/>
              </a:spcAft>
              <a:buNone/>
            </a:pPr>
            <a:r>
              <a:rPr lang="en"/>
              <a:t>Оновлення моделі</a:t>
            </a:r>
            <a:endParaRPr/>
          </a:p>
          <a:p>
            <a:pPr indent="0" lvl="0" marL="0" rtl="0" algn="l">
              <a:spcBef>
                <a:spcPts val="1200"/>
              </a:spcBef>
              <a:spcAft>
                <a:spcPts val="0"/>
              </a:spcAft>
              <a:buNone/>
            </a:pPr>
            <a:r>
              <a:rPr lang="en"/>
              <a:t>Генералізація та абстракції</a:t>
            </a:r>
            <a:endParaRPr/>
          </a:p>
          <a:p>
            <a:pPr indent="0" lvl="0" marL="0" rtl="0" algn="l">
              <a:spcBef>
                <a:spcPts val="1200"/>
              </a:spcBef>
              <a:spcAft>
                <a:spcPts val="0"/>
              </a:spcAft>
              <a:buClr>
                <a:schemeClr val="dk1"/>
              </a:buClr>
              <a:buSzPts val="1100"/>
              <a:buFont typeface="Arial"/>
              <a:buNone/>
            </a:pPr>
            <a:r>
              <a:t/>
            </a:r>
            <a:endParaRPr b="1" sz="2100">
              <a:solidFill>
                <a:schemeClr val="dk1"/>
              </a:solidFill>
              <a:latin typeface="Merriweather"/>
              <a:ea typeface="Merriweather"/>
              <a:cs typeface="Merriweather"/>
              <a:sym typeface="Merriweather"/>
            </a:endParaRPr>
          </a:p>
        </p:txBody>
      </p:sp>
      <p:pic>
        <p:nvPicPr>
          <p:cNvPr id="184" name="Google Shape;184;p32"/>
          <p:cNvPicPr preferRelativeResize="0"/>
          <p:nvPr/>
        </p:nvPicPr>
        <p:blipFill>
          <a:blip r:embed="rId3">
            <a:alphaModFix/>
          </a:blip>
          <a:stretch>
            <a:fillRect/>
          </a:stretch>
        </p:blipFill>
        <p:spPr>
          <a:xfrm>
            <a:off x="4692596" y="64950"/>
            <a:ext cx="4451409" cy="5143501"/>
          </a:xfrm>
          <a:prstGeom prst="rect">
            <a:avLst/>
          </a:prstGeom>
          <a:noFill/>
          <a:ln>
            <a:noFill/>
          </a:ln>
        </p:spPr>
      </p:pic>
      <p:sp>
        <p:nvSpPr>
          <p:cNvPr id="185" name="Google Shape;185;p32"/>
          <p:cNvSpPr txBox="1"/>
          <p:nvPr/>
        </p:nvSpPr>
        <p:spPr>
          <a:xfrm>
            <a:off x="0" y="4343100"/>
            <a:ext cx="30000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222222"/>
                </a:solidFill>
                <a:highlight>
                  <a:srgbClr val="FFFFFF"/>
                </a:highlight>
              </a:rPr>
              <a:t>Billard, A., Albu-Schaeffer, A., Beetz, M., Burgard, W., Corke, P., Ciocarlie, M., ... &amp; Scaramuzza, D. (2025). A roadmap for AI in robotics. </a:t>
            </a:r>
            <a:r>
              <a:rPr i="1" lang="en" sz="1000">
                <a:solidFill>
                  <a:srgbClr val="222222"/>
                </a:solidFill>
                <a:highlight>
                  <a:srgbClr val="FFFFFF"/>
                </a:highlight>
              </a:rPr>
              <a:t>Nature Machine Intelligence</a:t>
            </a:r>
            <a:r>
              <a:rPr lang="en" sz="1000">
                <a:solidFill>
                  <a:srgbClr val="222222"/>
                </a:solidFill>
                <a:highlight>
                  <a:srgbClr val="FFFFFF"/>
                </a:highlight>
              </a:rPr>
              <a:t>, 1-7.</a:t>
            </a:r>
            <a:endParaRPr/>
          </a:p>
        </p:txBody>
      </p:sp>
      <p:pic>
        <p:nvPicPr>
          <p:cNvPr id="186" name="Google Shape;186;p32"/>
          <p:cNvPicPr preferRelativeResize="0"/>
          <p:nvPr/>
        </p:nvPicPr>
        <p:blipFill>
          <a:blip r:embed="rId4">
            <a:alphaModFix/>
          </a:blip>
          <a:stretch>
            <a:fillRect/>
          </a:stretch>
        </p:blipFill>
        <p:spPr>
          <a:xfrm>
            <a:off x="-12" y="0"/>
            <a:ext cx="6848475" cy="6286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3"/>
          <p:cNvSpPr txBox="1"/>
          <p:nvPr>
            <p:ph type="title"/>
          </p:nvPr>
        </p:nvSpPr>
        <p:spPr>
          <a:xfrm>
            <a:off x="398982" y="158631"/>
            <a:ext cx="5987700" cy="2691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00000"/>
              <a:buFont typeface="Arial"/>
              <a:buNone/>
            </a:pPr>
            <a:r>
              <a:rPr lang="en"/>
              <a:t>Основні задачі алгоритмів ШІ в дронах</a:t>
            </a:r>
            <a:endParaRPr/>
          </a:p>
        </p:txBody>
      </p:sp>
      <p:sp>
        <p:nvSpPr>
          <p:cNvPr id="192" name="Google Shape;192;p33"/>
          <p:cNvSpPr txBox="1"/>
          <p:nvPr>
            <p:ph idx="1" type="body"/>
          </p:nvPr>
        </p:nvSpPr>
        <p:spPr>
          <a:xfrm>
            <a:off x="471488" y="519157"/>
            <a:ext cx="5915100" cy="29553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1500"/>
              <a:buNone/>
            </a:pPr>
            <a:r>
              <a:rPr lang="en"/>
              <a:t>1. Автономна навігація</a:t>
            </a:r>
            <a:endParaRPr/>
          </a:p>
          <a:p>
            <a:pPr indent="0" lvl="1" marL="342900" rtl="0" algn="l">
              <a:lnSpc>
                <a:spcPct val="90000"/>
              </a:lnSpc>
              <a:spcBef>
                <a:spcPts val="400"/>
              </a:spcBef>
              <a:spcAft>
                <a:spcPts val="0"/>
              </a:spcAft>
              <a:buClr>
                <a:schemeClr val="dk1"/>
              </a:buClr>
              <a:buSzPts val="1400"/>
              <a:buNone/>
            </a:pPr>
            <a:r>
              <a:rPr lang="en"/>
              <a:t>Для протидії РЕБ</a:t>
            </a:r>
            <a:endParaRPr/>
          </a:p>
          <a:p>
            <a:pPr indent="0" lvl="1" marL="342900" rtl="0" algn="l">
              <a:lnSpc>
                <a:spcPct val="90000"/>
              </a:lnSpc>
              <a:spcBef>
                <a:spcPts val="400"/>
              </a:spcBef>
              <a:spcAft>
                <a:spcPts val="0"/>
              </a:spcAft>
              <a:buClr>
                <a:schemeClr val="dk1"/>
              </a:buClr>
              <a:buSzPts val="1400"/>
              <a:buNone/>
            </a:pPr>
            <a:r>
              <a:t/>
            </a:r>
            <a:endParaRPr/>
          </a:p>
          <a:p>
            <a:pPr indent="0" lvl="0" marL="0" rtl="0" algn="l">
              <a:lnSpc>
                <a:spcPct val="90000"/>
              </a:lnSpc>
              <a:spcBef>
                <a:spcPts val="800"/>
              </a:spcBef>
              <a:spcAft>
                <a:spcPts val="0"/>
              </a:spcAft>
              <a:buClr>
                <a:schemeClr val="dk1"/>
              </a:buClr>
              <a:buSzPts val="1500"/>
              <a:buNone/>
            </a:pPr>
            <a:r>
              <a:rPr lang="en"/>
              <a:t>2. Автономне наведення</a:t>
            </a:r>
            <a:endParaRPr/>
          </a:p>
          <a:p>
            <a:pPr indent="0" lvl="1" marL="342900" rtl="0" algn="l">
              <a:lnSpc>
                <a:spcPct val="90000"/>
              </a:lnSpc>
              <a:spcBef>
                <a:spcPts val="400"/>
              </a:spcBef>
              <a:spcAft>
                <a:spcPts val="0"/>
              </a:spcAft>
              <a:buClr>
                <a:schemeClr val="dk1"/>
              </a:buClr>
              <a:buSzPts val="1400"/>
              <a:buNone/>
            </a:pPr>
            <a:r>
              <a:rPr lang="en"/>
              <a:t>Захоплення та слідування за ціллю</a:t>
            </a:r>
            <a:endParaRPr/>
          </a:p>
          <a:p>
            <a:pPr indent="0" lvl="1" marL="342900" rtl="0" algn="l">
              <a:lnSpc>
                <a:spcPct val="90000"/>
              </a:lnSpc>
              <a:spcBef>
                <a:spcPts val="400"/>
              </a:spcBef>
              <a:spcAft>
                <a:spcPts val="0"/>
              </a:spcAft>
              <a:buClr>
                <a:schemeClr val="dk1"/>
              </a:buClr>
              <a:buSzPts val="1400"/>
              <a:buNone/>
            </a:pPr>
            <a:r>
              <a:t/>
            </a:r>
            <a:endParaRPr/>
          </a:p>
          <a:p>
            <a:pPr indent="0" lvl="1" marL="342900" rtl="0" algn="l">
              <a:lnSpc>
                <a:spcPct val="90000"/>
              </a:lnSpc>
              <a:spcBef>
                <a:spcPts val="400"/>
              </a:spcBef>
              <a:spcAft>
                <a:spcPts val="0"/>
              </a:spcAft>
              <a:buClr>
                <a:schemeClr val="dk1"/>
              </a:buClr>
              <a:buSzPts val="1400"/>
              <a:buNone/>
            </a:pPr>
            <a:r>
              <a:rPr lang="en"/>
              <a:t>3. Пошук оптимальних траєкторій </a:t>
            </a:r>
            <a:endParaRPr/>
          </a:p>
          <a:p>
            <a:pPr indent="0" lvl="1" marL="342900" rtl="0" algn="l">
              <a:lnSpc>
                <a:spcPct val="90000"/>
              </a:lnSpc>
              <a:spcBef>
                <a:spcPts val="400"/>
              </a:spcBef>
              <a:spcAft>
                <a:spcPts val="1200"/>
              </a:spcAft>
              <a:buClr>
                <a:schemeClr val="dk1"/>
              </a:buClr>
              <a:buSzPts val="1400"/>
              <a:buNone/>
            </a:pPr>
            <a:r>
              <a:rPr lang="en"/>
              <a:t>	для перехоплення рухомих цілей </a:t>
            </a:r>
            <a:endParaRPr/>
          </a:p>
        </p:txBody>
      </p:sp>
      <p:sp>
        <p:nvSpPr>
          <p:cNvPr id="193" name="Google Shape;193;p33"/>
          <p:cNvSpPr txBox="1"/>
          <p:nvPr/>
        </p:nvSpPr>
        <p:spPr>
          <a:xfrm>
            <a:off x="4946333" y="442916"/>
            <a:ext cx="4570800" cy="1146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Calibri"/>
                <a:ea typeface="Calibri"/>
                <a:cs typeface="Calibri"/>
                <a:sym typeface="Calibri"/>
              </a:rPr>
              <a:t>Курси</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 sz="1400">
                <a:solidFill>
                  <a:schemeClr val="dk1"/>
                </a:solidFill>
                <a:latin typeface="Calibri"/>
                <a:ea typeface="Calibri"/>
                <a:cs typeface="Calibri"/>
                <a:sym typeface="Calibri"/>
              </a:rPr>
              <a:t>1. https://rpg.ifi.uzh.ch/teaching.html</a:t>
            </a:r>
            <a:endParaRPr sz="1100"/>
          </a:p>
          <a:p>
            <a:pPr indent="0" lvl="0" marL="0" marR="0" rtl="0" algn="l">
              <a:spcBef>
                <a:spcPts val="0"/>
              </a:spcBef>
              <a:spcAft>
                <a:spcPts val="0"/>
              </a:spcAft>
              <a:buNone/>
            </a:pPr>
            <a:r>
              <a:rPr lang="en" sz="1400">
                <a:solidFill>
                  <a:schemeClr val="dk1"/>
                </a:solidFill>
                <a:latin typeface="Calibri"/>
                <a:ea typeface="Calibri"/>
                <a:cs typeface="Calibri"/>
                <a:sym typeface="Calibri"/>
              </a:rPr>
              <a:t>2. https://www.edx.org/learn/autonomous-robotics/eth-zurich-autonomous-mobile-robots</a:t>
            </a:r>
            <a:endParaRPr sz="1100"/>
          </a:p>
        </p:txBody>
      </p:sp>
      <p:sp>
        <p:nvSpPr>
          <p:cNvPr id="194" name="Google Shape;194;p33"/>
          <p:cNvSpPr txBox="1"/>
          <p:nvPr/>
        </p:nvSpPr>
        <p:spPr>
          <a:xfrm>
            <a:off x="5102833" y="2690952"/>
            <a:ext cx="3651000" cy="71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Calibri"/>
                <a:ea typeface="Calibri"/>
                <a:cs typeface="Calibri"/>
                <a:sym typeface="Calibri"/>
              </a:rPr>
              <a:t>Етичні питання: чи можна давати право </a:t>
            </a:r>
            <a:endParaRPr sz="1100"/>
          </a:p>
          <a:p>
            <a:pPr indent="0" lvl="0" marL="0" marR="0" rtl="0" algn="l">
              <a:spcBef>
                <a:spcPts val="0"/>
              </a:spcBef>
              <a:spcAft>
                <a:spcPts val="0"/>
              </a:spcAft>
              <a:buNone/>
            </a:pPr>
            <a:r>
              <a:rPr lang="en" sz="1400">
                <a:solidFill>
                  <a:schemeClr val="dk1"/>
                </a:solidFill>
                <a:latin typeface="Calibri"/>
                <a:ea typeface="Calibri"/>
                <a:cs typeface="Calibri"/>
                <a:sym typeface="Calibri"/>
              </a:rPr>
              <a:t>ліквідувати ціль без підтвердження оператора?</a:t>
            </a:r>
            <a:endParaRPr sz="1400">
              <a:solidFill>
                <a:schemeClr val="dk1"/>
              </a:solidFill>
              <a:latin typeface="Calibri"/>
              <a:ea typeface="Calibri"/>
              <a:cs typeface="Calibri"/>
              <a:sym typeface="Calibri"/>
            </a:endParaRPr>
          </a:p>
        </p:txBody>
      </p:sp>
      <p:pic>
        <p:nvPicPr>
          <p:cNvPr id="195" name="Google Shape;195;p33"/>
          <p:cNvPicPr preferRelativeResize="0"/>
          <p:nvPr/>
        </p:nvPicPr>
        <p:blipFill rotWithShape="1">
          <a:blip r:embed="rId3">
            <a:alphaModFix/>
          </a:blip>
          <a:srcRect b="0" l="0" r="0" t="0"/>
          <a:stretch/>
        </p:blipFill>
        <p:spPr>
          <a:xfrm>
            <a:off x="531976" y="2891854"/>
            <a:ext cx="3080724" cy="1629419"/>
          </a:xfrm>
          <a:prstGeom prst="rect">
            <a:avLst/>
          </a:prstGeom>
          <a:noFill/>
          <a:ln>
            <a:noFill/>
          </a:ln>
        </p:spPr>
      </p:pic>
      <p:sp>
        <p:nvSpPr>
          <p:cNvPr id="196" name="Google Shape;196;p33"/>
          <p:cNvSpPr txBox="1"/>
          <p:nvPr/>
        </p:nvSpPr>
        <p:spPr>
          <a:xfrm>
            <a:off x="522851" y="4616012"/>
            <a:ext cx="2373600" cy="277200"/>
          </a:xfrm>
          <a:prstGeom prst="rect">
            <a:avLst/>
          </a:prstGeom>
          <a:noFill/>
          <a:ln>
            <a:noFill/>
          </a:ln>
        </p:spPr>
        <p:txBody>
          <a:bodyPr anchorCtr="0" anchor="t" bIns="68575" lIns="68575" spcFirstLastPara="1" rIns="68575" wrap="square" tIns="68575">
            <a:spAutoFit/>
          </a:bodyPr>
          <a:lstStyle/>
          <a:p>
            <a:pPr indent="0" lvl="0" marL="0" marR="0" rtl="0" algn="l">
              <a:spcBef>
                <a:spcPts val="0"/>
              </a:spcBef>
              <a:spcAft>
                <a:spcPts val="0"/>
              </a:spcAft>
              <a:buClr>
                <a:schemeClr val="dk1"/>
              </a:buClr>
              <a:buSzPts val="900"/>
              <a:buFont typeface="Calibri"/>
              <a:buNone/>
            </a:pPr>
            <a:r>
              <a:rPr lang="en" sz="900">
                <a:solidFill>
                  <a:schemeClr val="dk1"/>
                </a:solidFill>
                <a:latin typeface="Calibri"/>
                <a:ea typeface="Calibri"/>
                <a:cs typeface="Calibri"/>
                <a:sym typeface="Calibri"/>
              </a:rPr>
              <a:t>From Technical University of Munich</a:t>
            </a:r>
            <a:endParaRPr sz="9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Питання</a:t>
            </a:r>
            <a:endParaRPr/>
          </a:p>
          <a:p>
            <a:pPr indent="0" lvl="0" marL="0" rtl="0" algn="l">
              <a:spcBef>
                <a:spcPts val="0"/>
              </a:spcBef>
              <a:spcAft>
                <a:spcPts val="0"/>
              </a:spcAft>
              <a:buNone/>
            </a:pPr>
            <a:r>
              <a:t/>
            </a:r>
            <a:endParaRPr/>
          </a:p>
        </p:txBody>
      </p:sp>
      <p:sp>
        <p:nvSpPr>
          <p:cNvPr id="202" name="Google Shape;202;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Шлях до інтелекту єдиний, чи є різні. (еволюція vs машинне навчання)</a:t>
            </a:r>
            <a:endParaRPr/>
          </a:p>
          <a:p>
            <a:pPr indent="-342900" lvl="0" marL="457200" rtl="0" algn="l">
              <a:spcBef>
                <a:spcPts val="0"/>
              </a:spcBef>
              <a:spcAft>
                <a:spcPts val="0"/>
              </a:spcAft>
              <a:buSzPts val="1800"/>
              <a:buAutoNum type="arabicPeriod"/>
            </a:pPr>
            <a:r>
              <a:rPr lang="en"/>
              <a:t>Метафора про крила</a:t>
            </a:r>
            <a:endParaRPr/>
          </a:p>
          <a:p>
            <a:pPr indent="-342900" lvl="0" marL="457200" rtl="0" algn="l">
              <a:spcBef>
                <a:spcPts val="0"/>
              </a:spcBef>
              <a:spcAft>
                <a:spcPts val="0"/>
              </a:spcAft>
              <a:buSzPts val="1800"/>
              <a:buAutoNum type="arabicPeriod"/>
            </a:pPr>
            <a:r>
              <a:rPr lang="en"/>
              <a:t>Ladder to the moon</a:t>
            </a:r>
            <a:endParaRPr/>
          </a:p>
          <a:p>
            <a:pPr indent="-342900" lvl="0" marL="457200" rtl="0" algn="l">
              <a:spcBef>
                <a:spcPts val="0"/>
              </a:spcBef>
              <a:spcAft>
                <a:spcPts val="0"/>
              </a:spcAft>
              <a:buSzPts val="1800"/>
              <a:buAutoNum type="arabicPeriod"/>
            </a:pPr>
            <a:r>
              <a:rPr lang="en"/>
              <a:t>Bіas of LLM</a:t>
            </a:r>
            <a:endParaRPr/>
          </a:p>
        </p:txBody>
      </p:sp>
      <p:pic>
        <p:nvPicPr>
          <p:cNvPr descr="to the moon GIF by Barbara Pozzi" id="203" name="Google Shape;203;p34"/>
          <p:cNvPicPr preferRelativeResize="0"/>
          <p:nvPr/>
        </p:nvPicPr>
        <p:blipFill rotWithShape="1">
          <a:blip r:embed="rId3">
            <a:alphaModFix/>
          </a:blip>
          <a:srcRect b="0" l="0" r="0" t="0"/>
          <a:stretch/>
        </p:blipFill>
        <p:spPr>
          <a:xfrm>
            <a:off x="550869" y="3325750"/>
            <a:ext cx="1907381" cy="14287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Правила курсу</a:t>
            </a:r>
            <a:endParaRPr/>
          </a:p>
        </p:txBody>
      </p:sp>
      <p:sp>
        <p:nvSpPr>
          <p:cNvPr id="209" name="Google Shape;209;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i="1" lang="en" sz="1100">
                <a:solidFill>
                  <a:schemeClr val="dk1"/>
                </a:solidFill>
              </a:rPr>
              <a:t>120 годин / 4 кредити ECTS</a:t>
            </a:r>
            <a:endParaRPr i="1" sz="1100">
              <a:solidFill>
                <a:schemeClr val="dk1"/>
              </a:solidFill>
            </a:endParaRPr>
          </a:p>
          <a:p>
            <a:pPr indent="0" lvl="0" marL="0" rtl="0" algn="l">
              <a:spcBef>
                <a:spcPts val="1200"/>
              </a:spcBef>
              <a:spcAft>
                <a:spcPts val="0"/>
              </a:spcAft>
              <a:buClr>
                <a:schemeClr val="dk1"/>
              </a:buClr>
              <a:buSzPts val="1100"/>
              <a:buFont typeface="Arial"/>
              <a:buNone/>
            </a:pPr>
            <a:r>
              <a:rPr i="1" lang="en" sz="1100">
                <a:solidFill>
                  <a:schemeClr val="dk1"/>
                </a:solidFill>
              </a:rPr>
              <a:t>лекції – 36 год., комп’ютерний практикум – 18 год., СРС – 66 год.</a:t>
            </a:r>
            <a:endParaRPr i="1" sz="1100">
              <a:solidFill>
                <a:schemeClr val="dk1"/>
              </a:solidFill>
            </a:endParaRPr>
          </a:p>
          <a:p>
            <a:pPr indent="0" lvl="0" marL="0" rtl="0" algn="l">
              <a:spcBef>
                <a:spcPts val="1200"/>
              </a:spcBef>
              <a:spcAft>
                <a:spcPts val="0"/>
              </a:spcAft>
              <a:buClr>
                <a:schemeClr val="dk1"/>
              </a:buClr>
              <a:buSzPts val="1100"/>
              <a:buFont typeface="Arial"/>
              <a:buNone/>
            </a:pPr>
            <a:r>
              <a:rPr i="1" lang="en" sz="1100">
                <a:solidFill>
                  <a:schemeClr val="dk1"/>
                </a:solidFill>
              </a:rPr>
              <a:t>Консультації (безкоштовні) щочетверга з 14.00 до 18.00. Тут забронювати https://calendly.com/osaulenko-v-m/30min</a:t>
            </a:r>
            <a:endParaRPr i="1"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Питання: 15 балів (писати в спільний </a:t>
            </a:r>
            <a:r>
              <a:rPr lang="en" sz="1100" u="sng">
                <a:solidFill>
                  <a:schemeClr val="hlink"/>
                </a:solidFill>
                <a:hlinkClick r:id="rId3"/>
              </a:rPr>
              <a:t>гугл док</a:t>
            </a:r>
            <a:r>
              <a:rPr lang="en" sz="1100">
                <a:solidFill>
                  <a:schemeClr val="dk1"/>
                </a:solidFill>
              </a:rPr>
              <a:t>) </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Груповий проєкт: 30 балів ( деталі на першому практичному)</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Домашні: 30 балів (6 домашніх по 5 балів)</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Контрольна: 15 балів (в середині семестру)</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Mind map: 10 балів (мінімум 100 ключових слів)  (наприклад використовуючи </a:t>
            </a:r>
            <a:r>
              <a:rPr lang="en" sz="1100" u="sng">
                <a:solidFill>
                  <a:schemeClr val="hlink"/>
                </a:solidFill>
                <a:hlinkClick r:id="rId4"/>
              </a:rPr>
              <a:t>freeplane</a:t>
            </a:r>
            <a:r>
              <a:rPr lang="en" sz="1100">
                <a:solidFill>
                  <a:schemeClr val="dk1"/>
                </a:solidFill>
              </a:rPr>
              <a:t>)</a:t>
            </a:r>
            <a:endParaRPr sz="1100">
              <a:solidFill>
                <a:schemeClr val="dk1"/>
              </a:solidFill>
            </a:endParaRPr>
          </a:p>
          <a:p>
            <a:pPr indent="0" lvl="0" marL="0" rtl="0" algn="l">
              <a:spcBef>
                <a:spcPts val="1200"/>
              </a:spcBef>
              <a:spcAft>
                <a:spcPts val="1200"/>
              </a:spcAft>
              <a:buClr>
                <a:schemeClr val="dk1"/>
              </a:buClr>
              <a:buSzPts val="1100"/>
              <a:buFont typeface="Arial"/>
              <a:buNone/>
            </a:pPr>
            <a:r>
              <a:rPr lang="en" sz="1100">
                <a:solidFill>
                  <a:schemeClr val="dk1"/>
                </a:solidFill>
              </a:rPr>
              <a:t>Бонусні: відповіді 10 балів</a:t>
            </a:r>
            <a:endParaRPr sz="11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Clr>
                <a:schemeClr val="dk1"/>
              </a:buClr>
              <a:buSzPts val="1100"/>
              <a:buFont typeface="Arial"/>
              <a:buNone/>
            </a:pPr>
            <a:r>
              <a:rPr lang="en" sz="2100"/>
              <a:t>Підсумки</a:t>
            </a:r>
            <a:endParaRPr/>
          </a:p>
        </p:txBody>
      </p:sp>
      <p:sp>
        <p:nvSpPr>
          <p:cNvPr id="215" name="Google Shape;215;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Коротка історія намагання створити загальний ШІ</a:t>
            </a:r>
            <a:endParaRPr/>
          </a:p>
          <a:p>
            <a:pPr indent="-342900" lvl="0" marL="457200" rtl="0" algn="l">
              <a:spcBef>
                <a:spcPts val="0"/>
              </a:spcBef>
              <a:spcAft>
                <a:spcPts val="0"/>
              </a:spcAft>
              <a:buSzPts val="1800"/>
              <a:buAutoNum type="arabicPeriod"/>
            </a:pPr>
            <a:r>
              <a:rPr lang="en"/>
              <a:t>Bitter lessons</a:t>
            </a:r>
            <a:endParaRPr/>
          </a:p>
          <a:p>
            <a:pPr indent="-342900" lvl="0" marL="457200" rtl="0" algn="l">
              <a:spcBef>
                <a:spcPts val="0"/>
              </a:spcBef>
              <a:spcAft>
                <a:spcPts val="0"/>
              </a:spcAft>
              <a:buSzPts val="1800"/>
              <a:buAutoNum type="arabicPeriod"/>
            </a:pPr>
            <a:r>
              <a:rPr lang="en"/>
              <a:t>Основні напрямки</a:t>
            </a:r>
            <a:endParaRPr/>
          </a:p>
          <a:p>
            <a:pPr indent="-342900" lvl="0" marL="457200" rtl="0" algn="l">
              <a:spcBef>
                <a:spcPts val="0"/>
              </a:spcBef>
              <a:spcAft>
                <a:spcPts val="0"/>
              </a:spcAft>
              <a:buSzPts val="1800"/>
              <a:buAutoNum type="arabicPeriod"/>
            </a:pPr>
            <a:r>
              <a:rPr lang="en"/>
              <a:t>Що таке інтелект</a:t>
            </a:r>
            <a:endParaRPr/>
          </a:p>
          <a:p>
            <a:pPr indent="-342900" lvl="0" marL="457200" rtl="0" algn="l">
              <a:spcBef>
                <a:spcPts val="0"/>
              </a:spcBef>
              <a:spcAft>
                <a:spcPts val="0"/>
              </a:spcAft>
              <a:buSzPts val="1800"/>
              <a:buAutoNum type="arabicPeriod"/>
            </a:pPr>
            <a:r>
              <a:rPr lang="en"/>
              <a:t>Як проходитиме курс</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Самостійна робота</a:t>
            </a:r>
            <a:endParaRPr/>
          </a:p>
        </p:txBody>
      </p:sp>
      <p:sp>
        <p:nvSpPr>
          <p:cNvPr id="221" name="Google Shape;221;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 Стаття що таке інтелект </a:t>
            </a:r>
            <a:r>
              <a:rPr lang="en" u="sng">
                <a:solidFill>
                  <a:schemeClr val="hlink"/>
                </a:solidFill>
                <a:hlinkClick r:id="rId3"/>
              </a:rPr>
              <a:t>https://osaulenko-vm.medium.com/%D1%89%D0%BE-%D1%82%D0%B0%D0%BA%D0%B5-%D1%96%D0%BD%D1%82%D0%B5%D0%BB%D0%B5%D0%BA%D1%82-a3ec1307d0c3</a:t>
            </a:r>
            <a:endParaRPr/>
          </a:p>
          <a:p>
            <a:pPr indent="-342900" lvl="0" marL="457200" rtl="0" algn="l">
              <a:spcBef>
                <a:spcPts val="0"/>
              </a:spcBef>
              <a:spcAft>
                <a:spcPts val="0"/>
              </a:spcAft>
              <a:buSzPts val="1800"/>
              <a:buAutoNum type="arabicPeriod"/>
            </a:pPr>
            <a:r>
              <a:rPr lang="en"/>
              <a:t>Стаття карта ШІ 2020 </a:t>
            </a:r>
            <a:r>
              <a:rPr lang="en" u="sng">
                <a:solidFill>
                  <a:schemeClr val="hlink"/>
                </a:solidFill>
                <a:hlinkClick r:id="rId4"/>
              </a:rPr>
              <a:t>https://osaulenko-vm.medium.com/ai-map-2020-9305a33b24b0</a:t>
            </a:r>
            <a:endParaRPr/>
          </a:p>
          <a:p>
            <a:pPr indent="-342900" lvl="0" marL="457200" rtl="0" algn="l">
              <a:spcBef>
                <a:spcPts val="0"/>
              </a:spcBef>
              <a:spcAft>
                <a:spcPts val="0"/>
              </a:spcAft>
              <a:buSzPts val="1800"/>
              <a:buAutoNum type="arabicPeriod"/>
            </a:pPr>
            <a:r>
              <a:rPr lang="en"/>
              <a:t>Огляд про ШІ. Перша глава </a:t>
            </a:r>
            <a:r>
              <a:rPr lang="en" u="sng">
                <a:solidFill>
                  <a:schemeClr val="hlink"/>
                </a:solidFill>
                <a:hlinkClick r:id="rId5"/>
              </a:rPr>
              <a:t>https://ma-lab-berkeley.github.io/deep-representation-learning-book/</a:t>
            </a:r>
            <a:endParaRPr/>
          </a:p>
          <a:p>
            <a:pPr indent="-342900" lvl="0" marL="457200" rtl="0" algn="l">
              <a:spcBef>
                <a:spcPts val="0"/>
              </a:spcBef>
              <a:spcAft>
                <a:spcPts val="0"/>
              </a:spcAft>
              <a:buSzPts val="1800"/>
              <a:buAutoNum type="arabicPeriod"/>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38"/>
          <p:cNvPicPr preferRelativeResize="0"/>
          <p:nvPr>
            <p:ph idx="1" type="body"/>
          </p:nvPr>
        </p:nvPicPr>
        <p:blipFill rotWithShape="1">
          <a:blip r:embed="rId3">
            <a:alphaModFix/>
          </a:blip>
          <a:srcRect b="0" l="0" r="0" t="0"/>
          <a:stretch/>
        </p:blipFill>
        <p:spPr>
          <a:xfrm>
            <a:off x="2028326" y="883444"/>
            <a:ext cx="4954200" cy="3263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